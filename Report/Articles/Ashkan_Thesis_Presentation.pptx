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84" r:id="rId4"/>
  </p:sldMasterIdLst>
  <p:notesMasterIdLst>
    <p:notesMasterId r:id="rId31"/>
  </p:notesMasterIdLst>
  <p:handoutMasterIdLst>
    <p:handoutMasterId r:id="rId32"/>
  </p:handoutMasterIdLst>
  <p:sldIdLst>
    <p:sldId id="256" r:id="rId5"/>
    <p:sldId id="257" r:id="rId6"/>
    <p:sldId id="258" r:id="rId7"/>
    <p:sldId id="259" r:id="rId8"/>
    <p:sldId id="295" r:id="rId9"/>
    <p:sldId id="279" r:id="rId10"/>
    <p:sldId id="280" r:id="rId11"/>
    <p:sldId id="281" r:id="rId12"/>
    <p:sldId id="282" r:id="rId13"/>
    <p:sldId id="283" r:id="rId14"/>
    <p:sldId id="284" r:id="rId15"/>
    <p:sldId id="285" r:id="rId16"/>
    <p:sldId id="287" r:id="rId17"/>
    <p:sldId id="288" r:id="rId18"/>
    <p:sldId id="301" r:id="rId19"/>
    <p:sldId id="292" r:id="rId20"/>
    <p:sldId id="293" r:id="rId21"/>
    <p:sldId id="296" r:id="rId22"/>
    <p:sldId id="289" r:id="rId23"/>
    <p:sldId id="300" r:id="rId24"/>
    <p:sldId id="290" r:id="rId25"/>
    <p:sldId id="298" r:id="rId26"/>
    <p:sldId id="291" r:id="rId27"/>
    <p:sldId id="302" r:id="rId28"/>
    <p:sldId id="303" r:id="rId29"/>
    <p:sldId id="299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71E42"/>
    <a:srgbClr val="E2DED9"/>
    <a:srgbClr val="FDFDFD"/>
    <a:srgbClr val="DEDB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C2FFA5D-87B4-456A-9821-1D502468CF0F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1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D81DDF-98D4-498E-A94D-DDD7A807AD4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91BFCE-55A1-4C09-B4B5-9359AD6F4DF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E4FA28-26D5-4BDF-9A75-C27596ADE055}" type="datetimeFigureOut">
              <a:rPr lang="en-US" smtClean="0"/>
              <a:t>8/1/2025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EEB1F3-97EE-4F0D-B402-E34820EC68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54877F-A04A-4D6A-A0A8-95CC6E2D2A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507CFE-5866-4B40-8953-42375E9B5DB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2507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FE1D6F-8584-4A53-833D-DCA47225B220}" type="datetimeFigureOut">
              <a:rPr lang="en-US" smtClean="0"/>
              <a:t>8/1/2025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F3874D-A20A-4B3E-9C12-F524953D5B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530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7464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77464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913821" y="6370429"/>
            <a:ext cx="3500715" cy="309201"/>
          </a:xfrm>
        </p:spPr>
        <p:txBody>
          <a:bodyPr/>
          <a:lstStyle/>
          <a:p>
            <a:fld id="{2D202488-4139-4052-B998-251C9C912739}" type="datetimeFigureOut">
              <a:rPr lang="en-US" noProof="0" smtClean="0"/>
              <a:t>8/1/2025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77464" y="6370430"/>
            <a:ext cx="4973915" cy="309201"/>
          </a:xfrm>
        </p:spPr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777464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6400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8/1/2025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33" name="Straight Connector 32"/>
          <p:cNvCxnSpPr/>
          <p:nvPr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" name="Title 5">
            <a:extLst>
              <a:ext uri="{FF2B5EF4-FFF2-40B4-BE49-F238E27FC236}">
                <a16:creationId xmlns:a16="http://schemas.microsoft.com/office/drawing/2014/main" id="{C414FF1F-6558-4E39-87DB-276E44F54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56888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4423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0777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8/1/2025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780777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0136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2239" y="2161853"/>
            <a:ext cx="4645152" cy="3448595"/>
          </a:xfrm>
        </p:spPr>
        <p:txBody>
          <a:bodyPr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58679" y="2168318"/>
            <a:ext cx="4645152" cy="3441520"/>
          </a:xfrm>
        </p:spPr>
        <p:txBody>
          <a:bodyPr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8/1/2025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715607D-9DE2-4687-AAF8-EF2427252A90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2F96D46B-C1B8-46AB-87DF-61A8058B1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77750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7315" y="1950795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87315" y="2755515"/>
            <a:ext cx="4645152" cy="2644457"/>
          </a:xfrm>
        </p:spPr>
        <p:txBody>
          <a:bodyPr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52486" y="1954249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52486" y="2752737"/>
            <a:ext cx="4645152" cy="2637371"/>
          </a:xfrm>
        </p:spPr>
        <p:txBody>
          <a:bodyPr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8/1/2025</a:t>
            </a:fld>
            <a:endParaRPr 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384AA55-1960-47F4-BA3C-E97A6F2D0B19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09471694-1220-4CFC-A31F-622E5D3DE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81749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8/1/2025</a:t>
            </a:fld>
            <a:endParaRPr 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B55B52-B62C-4800-AAC1-B15AF2FE1F45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" name="Title 4">
            <a:extLst>
              <a:ext uri="{FF2B5EF4-FFF2-40B4-BE49-F238E27FC236}">
                <a16:creationId xmlns:a16="http://schemas.microsoft.com/office/drawing/2014/main" id="{3DF0054B-B64C-418E-A1B8-428EE4A1D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53955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8/1/2025</a:t>
            </a:fld>
            <a:endParaRPr 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B55B52-B62C-4800-AAC1-B15AF2FE1F45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" name="Title 4">
            <a:extLst>
              <a:ext uri="{FF2B5EF4-FFF2-40B4-BE49-F238E27FC236}">
                <a16:creationId xmlns:a16="http://schemas.microsoft.com/office/drawing/2014/main" id="{3DF0054B-B64C-418E-A1B8-428EE4A1D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5A680F6-C147-410B-94DF-19850752D7D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94656" y="1865037"/>
            <a:ext cx="8802688" cy="3127927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/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10242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8/1/2025</a:t>
            </a:fld>
            <a:endParaRPr lang="en-US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 </a:t>
            </a:r>
          </a:p>
        </p:txBody>
      </p:sp>
    </p:spTree>
    <p:extLst>
      <p:ext uri="{BB962C8B-B14F-4D97-AF65-F5344CB8AC3E}">
        <p14:creationId xmlns:p14="http://schemas.microsoft.com/office/powerpoint/2010/main" val="3771245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95246" y="1645522"/>
            <a:ext cx="5807176" cy="3840852"/>
          </a:xfrm>
        </p:spPr>
        <p:txBody>
          <a:bodyPr anchor="ctr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0909" y="1645522"/>
            <a:ext cx="3600000" cy="3836725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8/1/2025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CC09F73-0AD6-4A1E-A331-75A00B808982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1B74F78C-6D32-47C3-ABB2-6E7092A9C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281653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Gallery 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0394" y="3128470"/>
            <a:ext cx="3024000" cy="1906565"/>
          </a:xfrm>
        </p:spPr>
        <p:txBody>
          <a:bodyPr anchor="ctr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73638" y="5144980"/>
            <a:ext cx="3036438" cy="807405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8/1/2025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CC09F73-0AD6-4A1E-A331-75A00B808982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DE9A20D-024F-4A17-9B20-526AA4037253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02108" y="3128470"/>
            <a:ext cx="3024000" cy="1906565"/>
          </a:xfrm>
        </p:spPr>
        <p:txBody>
          <a:bodyPr anchor="ctr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7D8F60F-F9DD-4AAC-BF28-C004CCDF2D6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873638" y="3128470"/>
            <a:ext cx="3024000" cy="1906565"/>
          </a:xfrm>
        </p:spPr>
        <p:txBody>
          <a:bodyPr anchor="ctr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F09FDD8-5B1C-4AAA-8EEC-0A77C9E477D1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4595889" y="5144979"/>
            <a:ext cx="3036438" cy="807405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E6DF0B7E-E17E-4875-966D-4DE67F755B71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1306587" y="5144978"/>
            <a:ext cx="3036438" cy="807405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685D963-B130-47E9-AFCC-AEBED2B1155B}"/>
              </a:ext>
            </a:extLst>
          </p:cNvPr>
          <p:cNvCxnSpPr>
            <a:cxnSpLocks/>
          </p:cNvCxnSpPr>
          <p:nvPr userDrawn="1"/>
        </p:nvCxnSpPr>
        <p:spPr>
          <a:xfrm>
            <a:off x="4484077" y="5144978"/>
            <a:ext cx="0" cy="807405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FA9B6CF-713A-4942-BE35-A61AFCDDFD3D}"/>
              </a:ext>
            </a:extLst>
          </p:cNvPr>
          <p:cNvCxnSpPr>
            <a:cxnSpLocks/>
          </p:cNvCxnSpPr>
          <p:nvPr userDrawn="1"/>
        </p:nvCxnSpPr>
        <p:spPr>
          <a:xfrm>
            <a:off x="7757747" y="5144978"/>
            <a:ext cx="0" cy="807405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93809A32-C7A4-4739-994B-BE492F855A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90908" y="1617663"/>
            <a:ext cx="9618391" cy="1336675"/>
          </a:xfrm>
        </p:spPr>
        <p:txBody>
          <a:bodyPr>
            <a:noAutofit/>
          </a:bodyPr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C1ABD52-D5FE-4FC2-8449-5DA0E5285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242703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6069" y="6332578"/>
            <a:ext cx="4315852" cy="320123"/>
          </a:xfrm>
        </p:spPr>
        <p:txBody>
          <a:bodyPr/>
          <a:lstStyle>
            <a:lvl1pPr algn="r">
              <a:defRPr/>
            </a:lvl1pPr>
          </a:lstStyle>
          <a:p>
            <a:fld id="{2D202488-4139-4052-B998-251C9C912739}" type="datetimeFigureOut">
              <a:rPr lang="en-US" noProof="0" smtClean="0"/>
              <a:pPr/>
              <a:t>8/1/2025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6332578"/>
            <a:ext cx="5541004" cy="320931"/>
          </a:xfrm>
        </p:spPr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1589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13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 cstate="screen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b="-1562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4363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4363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96923" y="6340793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2D202488-4139-4052-B998-251C9C912739}" type="datetimeFigureOut">
              <a:rPr lang="en-US" noProof="0" smtClean="0"/>
              <a:pPr/>
              <a:t>8/1/2025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4364" y="6339730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Add Footer Here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7587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7" r:id="rId7"/>
    <p:sldLayoutId id="2147483691" r:id="rId8"/>
    <p:sldLayoutId id="2147483692" r:id="rId9"/>
    <p:sldLayoutId id="2147483696" r:id="rId10"/>
    <p:sldLayoutId id="214748369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CA56C-7A25-4BD4-AA72-5256E68BE4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7463" y="718284"/>
            <a:ext cx="8637073" cy="2541431"/>
          </a:xfrm>
        </p:spPr>
        <p:txBody>
          <a:bodyPr>
            <a:noAutofit/>
          </a:bodyPr>
          <a:lstStyle/>
          <a:p>
            <a:r>
              <a:rPr lang="en-US" sz="3600" dirty="0"/>
              <a:t>A DEEP LEARNING APPROACH TO SKIN</a:t>
            </a:r>
            <a:br>
              <a:rPr lang="en-US" sz="3600" dirty="0"/>
            </a:br>
            <a:r>
              <a:rPr lang="en-US" sz="3600" dirty="0"/>
              <a:t>CANCER DETECTION: A HYBRID </a:t>
            </a:r>
            <a:r>
              <a:rPr lang="en-US" sz="3600" dirty="0" smtClean="0"/>
              <a:t>PARALLEL MODEL </a:t>
            </a:r>
            <a:r>
              <a:rPr lang="en-US" sz="3600" dirty="0"/>
              <a:t>FOR </a:t>
            </a:r>
            <a:r>
              <a:rPr lang="en-US" sz="3600" dirty="0" smtClean="0"/>
              <a:t>MELANOMA CLASSIFICATION</a:t>
            </a:r>
            <a:endParaRPr lang="en-US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BCF363-1123-45B1-8A9A-ABCDA40EF3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7464" y="3575164"/>
            <a:ext cx="8637072" cy="224374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Ashkan Mohebali</a:t>
            </a:r>
          </a:p>
          <a:p>
            <a:r>
              <a:rPr lang="en-US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Supervisor: </a:t>
            </a:r>
            <a:r>
              <a:rPr lang="en-US" dirty="0" smtClean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Asst</a:t>
            </a:r>
            <a:r>
              <a:rPr lang="en-US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. Prof. Dr. Parvaneh Esmaili</a:t>
            </a:r>
          </a:p>
          <a:p>
            <a:r>
              <a:rPr lang="en-US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Cyprus International </a:t>
            </a:r>
            <a:r>
              <a:rPr lang="en-US" dirty="0" smtClean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University</a:t>
            </a:r>
          </a:p>
          <a:p>
            <a:r>
              <a:rPr lang="en-US" dirty="0" smtClean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Nicosia </a:t>
            </a:r>
            <a:r>
              <a:rPr lang="en-US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- 2025</a:t>
            </a:r>
          </a:p>
        </p:txBody>
      </p:sp>
    </p:spTree>
    <p:extLst>
      <p:ext uri="{BB962C8B-B14F-4D97-AF65-F5344CB8AC3E}">
        <p14:creationId xmlns:p14="http://schemas.microsoft.com/office/powerpoint/2010/main" val="4104294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9CD3E-5E33-4EB5-A2CE-C636605E6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3" y="804519"/>
            <a:ext cx="9603275" cy="1049235"/>
          </a:xfrm>
        </p:spPr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0199F-A274-44C6-BF37-784A855E6E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363" y="1671782"/>
            <a:ext cx="9603275" cy="4147127"/>
          </a:xfrm>
        </p:spPr>
        <p:txBody>
          <a:bodyPr>
            <a:normAutofit/>
          </a:bodyPr>
          <a:lstStyle/>
          <a:p>
            <a:pPr lvl="0"/>
            <a:r>
              <a:rPr lang="en-US" dirty="0" smtClean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Introduction</a:t>
            </a:r>
            <a:endParaRPr lang="en-US" dirty="0">
              <a:solidFill>
                <a:srgbClr val="000000"/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0"/>
            <a:r>
              <a:rPr lang="en-US" dirty="0" smtClean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Problem </a:t>
            </a:r>
            <a:r>
              <a:rPr lang="en-US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&amp; Motivation</a:t>
            </a:r>
          </a:p>
          <a:p>
            <a:pPr lvl="0"/>
            <a:r>
              <a:rPr lang="en-US" dirty="0" smtClean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Literature </a:t>
            </a:r>
            <a:r>
              <a:rPr lang="en-US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Review</a:t>
            </a:r>
          </a:p>
          <a:p>
            <a:pPr lvl="0"/>
            <a:r>
              <a:rPr lang="en-US" dirty="0" smtClean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Methodology</a:t>
            </a:r>
            <a:endParaRPr lang="en-US" dirty="0">
              <a:solidFill>
                <a:srgbClr val="000000"/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0"/>
            <a:r>
              <a:rPr lang="en-US" dirty="0" smtClean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Results</a:t>
            </a:r>
            <a:endParaRPr lang="en-US" dirty="0">
              <a:solidFill>
                <a:srgbClr val="000000"/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0"/>
            <a:r>
              <a:rPr lang="en-US" dirty="0" smtClean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Discussion</a:t>
            </a:r>
            <a:endParaRPr lang="en-US" dirty="0">
              <a:solidFill>
                <a:srgbClr val="000000"/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0"/>
            <a:r>
              <a:rPr lang="en-US" dirty="0" smtClean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Conclusion</a:t>
            </a:r>
            <a:endParaRPr lang="en-US" dirty="0">
              <a:solidFill>
                <a:srgbClr val="000000"/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0"/>
            <a:r>
              <a:rPr lang="en-US" dirty="0" smtClean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Q&amp;A</a:t>
            </a:r>
            <a:endParaRPr lang="en-US" dirty="0">
              <a:solidFill>
                <a:srgbClr val="000000"/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2109" y="1733195"/>
            <a:ext cx="4467971" cy="40857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94298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9CD3E-5E33-4EB5-A2CE-C636605E6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3" y="804519"/>
            <a:ext cx="9603275" cy="1049235"/>
          </a:xfrm>
        </p:spPr>
        <p:txBody>
          <a:bodyPr/>
          <a:lstStyle/>
          <a:p>
            <a:r>
              <a:rPr lang="en-US" dirty="0"/>
              <a:t>Background on Melanoma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0199F-A274-44C6-BF37-784A855E6E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363" y="2015732"/>
            <a:ext cx="4471609" cy="3450613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Skin </a:t>
            </a:r>
            <a:r>
              <a:rPr lang="en-US" dirty="0"/>
              <a:t>cancer is the most common cancer worldwide</a:t>
            </a:r>
            <a:r>
              <a:rPr lang="en-US" dirty="0" smtClean="0"/>
              <a:t>.</a:t>
            </a:r>
          </a:p>
          <a:p>
            <a:r>
              <a:rPr lang="en-US" dirty="0" smtClean="0"/>
              <a:t>Melanoma </a:t>
            </a:r>
            <a:r>
              <a:rPr lang="en-US" dirty="0"/>
              <a:t>is the deadliest form</a:t>
            </a:r>
            <a:r>
              <a:rPr lang="en-US" dirty="0" smtClean="0"/>
              <a:t>.</a:t>
            </a:r>
          </a:p>
          <a:p>
            <a:r>
              <a:rPr lang="en-US" dirty="0" smtClean="0"/>
              <a:t>Early </a:t>
            </a:r>
            <a:r>
              <a:rPr lang="en-US" dirty="0"/>
              <a:t>diagnosis is crucial for survival</a:t>
            </a:r>
            <a:r>
              <a:rPr lang="en-US" dirty="0" smtClean="0"/>
              <a:t>.</a:t>
            </a:r>
          </a:p>
          <a:p>
            <a:r>
              <a:rPr lang="en-US" dirty="0" smtClean="0"/>
              <a:t>Visual </a:t>
            </a:r>
            <a:r>
              <a:rPr lang="en-US" dirty="0"/>
              <a:t>similarities between benign and malignant lesions make detection hard</a:t>
            </a:r>
            <a:r>
              <a:rPr lang="en-US" dirty="0" smtClean="0"/>
              <a:t>.</a:t>
            </a:r>
          </a:p>
          <a:p>
            <a:r>
              <a:rPr lang="en-US" dirty="0" smtClean="0"/>
              <a:t>AI </a:t>
            </a:r>
            <a:r>
              <a:rPr lang="en-US" dirty="0"/>
              <a:t>can assist dermatologists by automating lesion classification.</a:t>
            </a:r>
          </a:p>
        </p:txBody>
      </p:sp>
      <p:pic>
        <p:nvPicPr>
          <p:cNvPr id="1028" name="Picture 4" descr="normal moles vs cancerous moles pictu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5972" y="2093036"/>
            <a:ext cx="5131666" cy="28883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9431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9CD3E-5E33-4EB5-A2CE-C636605E6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3" y="804519"/>
            <a:ext cx="9603275" cy="1049235"/>
          </a:xfrm>
        </p:spPr>
        <p:txBody>
          <a:bodyPr/>
          <a:lstStyle/>
          <a:p>
            <a:r>
              <a:rPr lang="en-US" dirty="0"/>
              <a:t>Challenges in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0199F-A274-44C6-BF37-784A855E6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Misclassification </a:t>
            </a:r>
            <a:r>
              <a:rPr lang="en-US" dirty="0"/>
              <a:t>risks</a:t>
            </a:r>
          </a:p>
          <a:p>
            <a:r>
              <a:rPr lang="en-US" dirty="0" smtClean="0"/>
              <a:t>Visual </a:t>
            </a:r>
            <a:r>
              <a:rPr lang="en-US" dirty="0"/>
              <a:t>similarity with benign lesions</a:t>
            </a:r>
          </a:p>
          <a:p>
            <a:r>
              <a:rPr lang="en-US" dirty="0" smtClean="0"/>
              <a:t>Biopsy </a:t>
            </a:r>
            <a:r>
              <a:rPr lang="en-US" dirty="0"/>
              <a:t>is invasive and </a:t>
            </a:r>
            <a:r>
              <a:rPr lang="en-US" dirty="0" smtClean="0"/>
              <a:t>slow</a:t>
            </a:r>
          </a:p>
          <a:p>
            <a:r>
              <a:rPr lang="en-US" dirty="0"/>
              <a:t>Manual diagnosis is time-consuming and error-prone</a:t>
            </a:r>
            <a:r>
              <a:rPr lang="en-US" dirty="0" smtClean="0"/>
              <a:t>.</a:t>
            </a:r>
          </a:p>
          <a:p>
            <a:r>
              <a:rPr lang="en-US" dirty="0" smtClean="0"/>
              <a:t>Dermoscopic </a:t>
            </a:r>
            <a:r>
              <a:rPr lang="en-US" dirty="0"/>
              <a:t>images are often visually similar</a:t>
            </a:r>
            <a:r>
              <a:rPr lang="en-US" dirty="0" smtClean="0"/>
              <a:t>.</a:t>
            </a:r>
          </a:p>
          <a:p>
            <a:r>
              <a:rPr lang="en-US" dirty="0" smtClean="0"/>
              <a:t>Imbalanced </a:t>
            </a:r>
            <a:r>
              <a:rPr lang="en-US" dirty="0"/>
              <a:t>datasets reduce model performance</a:t>
            </a:r>
            <a:r>
              <a:rPr lang="en-US" dirty="0" smtClean="0"/>
              <a:t>.</a:t>
            </a:r>
          </a:p>
          <a:p>
            <a:r>
              <a:rPr lang="en-US" dirty="0" smtClean="0"/>
              <a:t>Need </a:t>
            </a:r>
            <a:r>
              <a:rPr lang="en-US" dirty="0"/>
              <a:t>for a reliable, accurate model to support melanoma detection.</a:t>
            </a:r>
          </a:p>
        </p:txBody>
      </p:sp>
      <p:pic>
        <p:nvPicPr>
          <p:cNvPr id="4" name="Content Placeholder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2273" y="1853754"/>
            <a:ext cx="4339937" cy="288803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129365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Thesis Objectives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294362" y="1878992"/>
            <a:ext cx="9872401" cy="3724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 smtClean="0"/>
              <a:t>Build </a:t>
            </a:r>
            <a:r>
              <a:rPr lang="en-US" dirty="0"/>
              <a:t>and </a:t>
            </a:r>
            <a:r>
              <a:rPr lang="en-US" dirty="0" smtClean="0"/>
              <a:t>develop a hybrid model using CNN and Transformer backbones</a:t>
            </a:r>
          </a:p>
          <a:p>
            <a:r>
              <a:rPr lang="en-US" dirty="0" smtClean="0"/>
              <a:t>Improve </a:t>
            </a:r>
            <a:r>
              <a:rPr lang="en-US" dirty="0"/>
              <a:t>melanoma classification</a:t>
            </a:r>
          </a:p>
          <a:p>
            <a:r>
              <a:rPr lang="en-US" dirty="0"/>
              <a:t>Test on ISIC </a:t>
            </a:r>
            <a:r>
              <a:rPr lang="en-US" dirty="0" smtClean="0"/>
              <a:t>datasets</a:t>
            </a:r>
          </a:p>
          <a:p>
            <a:r>
              <a:rPr lang="en-US" dirty="0" smtClean="0"/>
              <a:t>Combine </a:t>
            </a:r>
            <a:r>
              <a:rPr lang="en-US" dirty="0"/>
              <a:t>ISIC 2019 and ISIC 2020 datasets for </a:t>
            </a:r>
            <a:r>
              <a:rPr lang="en-US" dirty="0" smtClean="0"/>
              <a:t>training,  then ISIC 2019 testing set.</a:t>
            </a:r>
          </a:p>
          <a:p>
            <a:r>
              <a:rPr lang="en-US" dirty="0" smtClean="0"/>
              <a:t>Try each ISIC separately.</a:t>
            </a:r>
            <a:endParaRPr lang="en-US" dirty="0"/>
          </a:p>
          <a:p>
            <a:r>
              <a:rPr lang="en-US" dirty="0"/>
              <a:t>Evaluate performance using </a:t>
            </a:r>
            <a:r>
              <a:rPr lang="en-US" dirty="0" smtClean="0"/>
              <a:t>metrics: Accuracy</a:t>
            </a:r>
            <a:r>
              <a:rPr lang="en-US" dirty="0"/>
              <a:t>, Sensitivity, Specificity, F1-score, AUC.</a:t>
            </a:r>
          </a:p>
          <a:p>
            <a:r>
              <a:rPr lang="en-US" dirty="0"/>
              <a:t>Compare hybrid model to </a:t>
            </a:r>
            <a:r>
              <a:rPr lang="en-US" dirty="0" smtClean="0"/>
              <a:t>others</a:t>
            </a:r>
            <a:endParaRPr lang="en-US" dirty="0" smtClean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4934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Berserker</a:t>
            </a:r>
            <a:r>
              <a:rPr lang="en-US" dirty="0"/>
              <a:t>: </a:t>
            </a:r>
            <a:r>
              <a:rPr lang="en-US" dirty="0" smtClean="0"/>
              <a:t>highest </a:t>
            </a:r>
            <a:r>
              <a:rPr lang="en-US" dirty="0"/>
              <a:t>accuracy and balanced performance.</a:t>
            </a:r>
          </a:p>
          <a:p>
            <a:r>
              <a:rPr lang="en-US" dirty="0" err="1" smtClean="0"/>
              <a:t>Abdulredah</a:t>
            </a:r>
            <a:r>
              <a:rPr lang="en-US" dirty="0" smtClean="0"/>
              <a:t> </a:t>
            </a:r>
            <a:r>
              <a:rPr lang="en-US" dirty="0"/>
              <a:t>et al. (2025</a:t>
            </a:r>
            <a:r>
              <a:rPr lang="en-US" dirty="0" smtClean="0"/>
              <a:t>): higher </a:t>
            </a:r>
            <a:r>
              <a:rPr lang="en-US" dirty="0"/>
              <a:t>accuracy but complex model with external data.</a:t>
            </a:r>
          </a:p>
          <a:p>
            <a:r>
              <a:rPr lang="en-US" dirty="0" err="1" smtClean="0"/>
              <a:t>Akter</a:t>
            </a:r>
            <a:r>
              <a:rPr lang="en-US" dirty="0" smtClean="0"/>
              <a:t> </a:t>
            </a:r>
            <a:r>
              <a:rPr lang="en-US" dirty="0"/>
              <a:t>et al. (2025): </a:t>
            </a:r>
            <a:r>
              <a:rPr lang="en-US" dirty="0" smtClean="0"/>
              <a:t>lower </a:t>
            </a:r>
            <a:r>
              <a:rPr lang="en-US" dirty="0"/>
              <a:t>accuracy with an ensemble of InceptionV3 and DenseNet121.</a:t>
            </a:r>
          </a:p>
          <a:p>
            <a:r>
              <a:rPr lang="en-US" dirty="0" err="1" smtClean="0"/>
              <a:t>Venugopal</a:t>
            </a:r>
            <a:r>
              <a:rPr lang="en-US" dirty="0" smtClean="0"/>
              <a:t> </a:t>
            </a:r>
            <a:r>
              <a:rPr lang="en-US" dirty="0"/>
              <a:t>et al. (2023): </a:t>
            </a:r>
            <a:r>
              <a:rPr lang="en-US" dirty="0" smtClean="0"/>
              <a:t>lower </a:t>
            </a:r>
            <a:r>
              <a:rPr lang="en-US" dirty="0"/>
              <a:t>performance, Berserker outperforms with simpler architecture.</a:t>
            </a:r>
          </a:p>
          <a:p>
            <a:r>
              <a:rPr lang="en-US" dirty="0" smtClean="0"/>
              <a:t>Rahman </a:t>
            </a:r>
            <a:r>
              <a:rPr lang="en-US" dirty="0"/>
              <a:t>et al. (2024): </a:t>
            </a:r>
            <a:r>
              <a:rPr lang="en-US" dirty="0" smtClean="0"/>
              <a:t>significant </a:t>
            </a:r>
            <a:r>
              <a:rPr lang="en-US" dirty="0"/>
              <a:t>performance gap, Berserker clearly superior.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</a:t>
            </a:r>
            <a:r>
              <a:rPr lang="en-US" dirty="0" smtClean="0"/>
              <a:t>Review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257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294363" y="2015732"/>
            <a:ext cx="9466001" cy="3450613"/>
          </a:xfrm>
        </p:spPr>
        <p:txBody>
          <a:bodyPr>
            <a:noAutofit/>
          </a:bodyPr>
          <a:lstStyle/>
          <a:p>
            <a:r>
              <a:rPr lang="en-US" sz="2400" dirty="0" smtClean="0"/>
              <a:t>ISIC </a:t>
            </a:r>
            <a:r>
              <a:rPr lang="en-US" sz="2400" dirty="0"/>
              <a:t>2020 (DICOM format</a:t>
            </a:r>
            <a:r>
              <a:rPr lang="en-US" sz="2400" dirty="0" smtClean="0"/>
              <a:t>):</a:t>
            </a:r>
          </a:p>
          <a:p>
            <a:pPr lvl="1"/>
            <a:r>
              <a:rPr lang="en-US" sz="2000" dirty="0" smtClean="0"/>
              <a:t>Before augmentation: </a:t>
            </a:r>
            <a:r>
              <a:rPr lang="en-US" sz="2000" b="1" dirty="0" smtClean="0"/>
              <a:t>32,542</a:t>
            </a:r>
            <a:r>
              <a:rPr lang="en-US" sz="2000" dirty="0" smtClean="0"/>
              <a:t> </a:t>
            </a:r>
            <a:r>
              <a:rPr lang="en-US" sz="2000" dirty="0"/>
              <a:t>non-melanoma </a:t>
            </a:r>
            <a:r>
              <a:rPr lang="en-US" sz="2000" dirty="0" smtClean="0"/>
              <a:t>(benign) images +</a:t>
            </a:r>
            <a:r>
              <a:rPr lang="en-US" sz="2000" b="1" dirty="0" smtClean="0"/>
              <a:t> 584 </a:t>
            </a:r>
            <a:r>
              <a:rPr lang="en-US" sz="2000" dirty="0" smtClean="0"/>
              <a:t>melanoma images </a:t>
            </a:r>
          </a:p>
          <a:p>
            <a:pPr lvl="1"/>
            <a:r>
              <a:rPr lang="en-US" sz="2000" dirty="0" smtClean="0"/>
              <a:t>After augmentation: </a:t>
            </a:r>
            <a:r>
              <a:rPr lang="en-US" sz="2000" b="1" dirty="0" smtClean="0"/>
              <a:t>32,542</a:t>
            </a:r>
            <a:r>
              <a:rPr lang="en-US" sz="2000" dirty="0" smtClean="0"/>
              <a:t> </a:t>
            </a:r>
            <a:r>
              <a:rPr lang="en-US" sz="2000" dirty="0"/>
              <a:t>non-melanoma </a:t>
            </a:r>
            <a:r>
              <a:rPr lang="en-US" sz="2000" dirty="0" smtClean="0"/>
              <a:t>(benign) </a:t>
            </a:r>
            <a:r>
              <a:rPr lang="en-US" sz="2000" dirty="0"/>
              <a:t>images + </a:t>
            </a:r>
            <a:r>
              <a:rPr lang="en-US" sz="2000" b="1" dirty="0" smtClean="0"/>
              <a:t>12,264</a:t>
            </a:r>
            <a:r>
              <a:rPr lang="en-US" sz="2000" dirty="0" smtClean="0"/>
              <a:t> melanoma images</a:t>
            </a:r>
          </a:p>
          <a:p>
            <a:r>
              <a:rPr lang="en-US" sz="2400" dirty="0"/>
              <a:t>ISIC 2019 (filtered to binary):</a:t>
            </a:r>
          </a:p>
          <a:p>
            <a:pPr lvl="1"/>
            <a:r>
              <a:rPr lang="en-US" sz="2000" dirty="0"/>
              <a:t>Before augmentation: </a:t>
            </a:r>
            <a:r>
              <a:rPr lang="en-US" sz="2000" b="1" dirty="0"/>
              <a:t>20,809 </a:t>
            </a:r>
            <a:r>
              <a:rPr lang="en-US" sz="2000" dirty="0"/>
              <a:t>non-melanoma images + </a:t>
            </a:r>
            <a:r>
              <a:rPr lang="en-US" sz="2000" b="1" dirty="0"/>
              <a:t>4,522</a:t>
            </a:r>
            <a:r>
              <a:rPr lang="en-US" sz="2000" dirty="0"/>
              <a:t> melanoma images </a:t>
            </a:r>
          </a:p>
          <a:p>
            <a:pPr lvl="1"/>
            <a:r>
              <a:rPr lang="en-US" sz="2000" dirty="0"/>
              <a:t>After augmentation: </a:t>
            </a:r>
            <a:r>
              <a:rPr lang="en-US" sz="2000" b="1" dirty="0"/>
              <a:t>20,809</a:t>
            </a:r>
            <a:r>
              <a:rPr lang="en-US" sz="2000" dirty="0"/>
              <a:t> non-melanoma images + </a:t>
            </a:r>
            <a:r>
              <a:rPr lang="en-US" sz="2000" b="1" dirty="0"/>
              <a:t>20,809</a:t>
            </a:r>
            <a:r>
              <a:rPr lang="en-US" sz="2000" dirty="0"/>
              <a:t> melanoma images </a:t>
            </a:r>
          </a:p>
          <a:p>
            <a:pPr lvl="1"/>
            <a:endParaRPr lang="en-US" sz="2000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Datasets</a:t>
            </a:r>
          </a:p>
        </p:txBody>
      </p:sp>
    </p:spTree>
    <p:extLst>
      <p:ext uri="{BB962C8B-B14F-4D97-AF65-F5344CB8AC3E}">
        <p14:creationId xmlns:p14="http://schemas.microsoft.com/office/powerpoint/2010/main" val="22619405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All images resized (224 x 224</a:t>
            </a:r>
            <a:r>
              <a:rPr lang="en-US" dirty="0" smtClean="0"/>
              <a:t>)</a:t>
            </a:r>
          </a:p>
          <a:p>
            <a:r>
              <a:rPr lang="en-US" dirty="0" smtClean="0"/>
              <a:t>Normalized</a:t>
            </a:r>
          </a:p>
          <a:p>
            <a:r>
              <a:rPr lang="en-US" dirty="0"/>
              <a:t>C</a:t>
            </a:r>
            <a:r>
              <a:rPr lang="en-US" dirty="0" smtClean="0"/>
              <a:t>onverted to JPG format</a:t>
            </a:r>
            <a:endParaRPr lang="en-US" dirty="0"/>
          </a:p>
          <a:p>
            <a:r>
              <a:rPr lang="en-US" dirty="0" smtClean="0"/>
              <a:t>Augmentation </a:t>
            </a:r>
            <a:r>
              <a:rPr lang="en-US" dirty="0"/>
              <a:t>with </a:t>
            </a:r>
            <a:r>
              <a:rPr lang="en-US" dirty="0" err="1" smtClean="0"/>
              <a:t>Albumentations</a:t>
            </a:r>
            <a:endParaRPr lang="en-US" dirty="0" smtClean="0"/>
          </a:p>
          <a:p>
            <a:r>
              <a:rPr lang="en-US" dirty="0" smtClean="0"/>
              <a:t>Train / Val / Testing Split</a:t>
            </a:r>
            <a:endParaRPr lang="en-US" dirty="0"/>
          </a:p>
          <a:p>
            <a:r>
              <a:rPr lang="en-US" dirty="0" smtClean="0"/>
              <a:t>Stored </a:t>
            </a:r>
            <a:r>
              <a:rPr lang="en-US" dirty="0"/>
              <a:t>in structured </a:t>
            </a:r>
            <a:r>
              <a:rPr lang="en-US" dirty="0" smtClean="0"/>
              <a:t>folders in Google Drive, as either melanoma or benign (non-melanoma) 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Preprocessing Pipeline</a:t>
            </a:r>
          </a:p>
        </p:txBody>
      </p:sp>
    </p:spTree>
    <p:extLst>
      <p:ext uri="{BB962C8B-B14F-4D97-AF65-F5344CB8AC3E}">
        <p14:creationId xmlns:p14="http://schemas.microsoft.com/office/powerpoint/2010/main" val="8266870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294364" y="2015732"/>
            <a:ext cx="5281928" cy="3450613"/>
          </a:xfrm>
        </p:spPr>
        <p:txBody>
          <a:bodyPr>
            <a:noAutofit/>
          </a:bodyPr>
          <a:lstStyle/>
          <a:p>
            <a:r>
              <a:rPr lang="en-US" dirty="0"/>
              <a:t>Custom </a:t>
            </a:r>
            <a:r>
              <a:rPr lang="en-US" dirty="0" err="1"/>
              <a:t>PyTorch</a:t>
            </a:r>
            <a:r>
              <a:rPr lang="en-US" dirty="0"/>
              <a:t> Dataset class </a:t>
            </a:r>
            <a:r>
              <a:rPr lang="en-US" dirty="0" smtClean="0"/>
              <a:t>for</a:t>
            </a:r>
            <a:r>
              <a:rPr lang="en-US" dirty="0" smtClean="0"/>
              <a:t> </a:t>
            </a:r>
            <a:r>
              <a:rPr lang="en-US" dirty="0" smtClean="0"/>
              <a:t>ISIC 2020 (and 2019)</a:t>
            </a:r>
          </a:p>
          <a:p>
            <a:r>
              <a:rPr lang="en-US" dirty="0" smtClean="0"/>
              <a:t>Used </a:t>
            </a:r>
            <a:r>
              <a:rPr lang="en-US" dirty="0"/>
              <a:t>glob() to read image paths by </a:t>
            </a:r>
            <a:r>
              <a:rPr lang="en-US" dirty="0" smtClean="0"/>
              <a:t>class</a:t>
            </a:r>
          </a:p>
          <a:p>
            <a:r>
              <a:rPr lang="en-US" dirty="0"/>
              <a:t>Labels assigned automatically based on folder </a:t>
            </a:r>
            <a:r>
              <a:rPr lang="en-US" dirty="0" smtClean="0"/>
              <a:t>structure</a:t>
            </a:r>
            <a:endParaRPr lang="en-US" dirty="0"/>
          </a:p>
          <a:p>
            <a:r>
              <a:rPr lang="en-US" dirty="0" smtClean="0"/>
              <a:t>Dividing </a:t>
            </a:r>
            <a:r>
              <a:rPr lang="en-US" dirty="0"/>
              <a:t>into 85% train and 15% validation </a:t>
            </a:r>
            <a:r>
              <a:rPr lang="en-US" dirty="0" smtClean="0"/>
              <a:t>sets</a:t>
            </a:r>
          </a:p>
          <a:p>
            <a:r>
              <a:rPr lang="en-US" dirty="0"/>
              <a:t>Data loaded using </a:t>
            </a:r>
            <a:r>
              <a:rPr lang="en-US" dirty="0" err="1"/>
              <a:t>DataLoader</a:t>
            </a:r>
            <a:r>
              <a:rPr lang="en-US" dirty="0"/>
              <a:t>() with </a:t>
            </a:r>
            <a:r>
              <a:rPr lang="en-US" dirty="0" err="1"/>
              <a:t>pin_memory</a:t>
            </a:r>
            <a:r>
              <a:rPr lang="en-US" dirty="0"/>
              <a:t>, multi-worker </a:t>
            </a:r>
            <a:r>
              <a:rPr lang="en-US" dirty="0" smtClean="0"/>
              <a:t>support (12 workers)</a:t>
            </a:r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Loading &amp; Partitioning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6292" y="2558761"/>
            <a:ext cx="5342896" cy="26782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7063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294364" y="2015732"/>
            <a:ext cx="6732036" cy="3960195"/>
          </a:xfrm>
        </p:spPr>
        <p:txBody>
          <a:bodyPr>
            <a:noAutofit/>
          </a:bodyPr>
          <a:lstStyle/>
          <a:p>
            <a:r>
              <a:rPr lang="en-US" sz="1800" dirty="0" smtClean="0"/>
              <a:t>4 </a:t>
            </a:r>
            <a:r>
              <a:rPr lang="en-US" sz="1800" dirty="0"/>
              <a:t>backbones: </a:t>
            </a:r>
            <a:endParaRPr lang="en-US" sz="1800" dirty="0" smtClean="0"/>
          </a:p>
          <a:p>
            <a:pPr lvl="1"/>
            <a:r>
              <a:rPr lang="en-US" sz="1600" dirty="0" smtClean="0"/>
              <a:t>ResNet50 </a:t>
            </a:r>
          </a:p>
          <a:p>
            <a:pPr lvl="1"/>
            <a:r>
              <a:rPr lang="en-US" sz="1600" dirty="0" smtClean="0"/>
              <a:t>EfficientNetB4</a:t>
            </a:r>
          </a:p>
          <a:p>
            <a:pPr lvl="1"/>
            <a:r>
              <a:rPr lang="en-US" sz="1600" dirty="0" smtClean="0"/>
              <a:t>DenseNet201</a:t>
            </a:r>
          </a:p>
          <a:p>
            <a:pPr lvl="1"/>
            <a:r>
              <a:rPr lang="en-US" sz="1600" dirty="0" smtClean="0"/>
              <a:t>Swin </a:t>
            </a:r>
            <a:r>
              <a:rPr lang="en-US" sz="1600" dirty="0"/>
              <a:t>Transformer</a:t>
            </a:r>
          </a:p>
          <a:p>
            <a:r>
              <a:rPr lang="en-US" sz="1800" dirty="0"/>
              <a:t>Feature extractors only (backbones are frozen</a:t>
            </a:r>
            <a:r>
              <a:rPr lang="en-US" sz="1800" dirty="0" smtClean="0"/>
              <a:t>)</a:t>
            </a:r>
          </a:p>
          <a:p>
            <a:r>
              <a:rPr lang="en-US" sz="1800" dirty="0"/>
              <a:t>Outputs are passed through Global Average </a:t>
            </a:r>
            <a:r>
              <a:rPr lang="en-US" sz="1800" dirty="0" smtClean="0"/>
              <a:t>Pooling</a:t>
            </a:r>
          </a:p>
          <a:p>
            <a:r>
              <a:rPr lang="en-US" sz="1800" dirty="0"/>
              <a:t>All features are </a:t>
            </a:r>
            <a:r>
              <a:rPr lang="en-US" sz="1800" dirty="0" smtClean="0"/>
              <a:t>concatenated</a:t>
            </a:r>
          </a:p>
          <a:p>
            <a:r>
              <a:rPr lang="en-US" sz="1800" dirty="0" smtClean="0"/>
              <a:t>Followed </a:t>
            </a:r>
            <a:r>
              <a:rPr lang="en-US" sz="1800" dirty="0"/>
              <a:t>by a trainable Fully Connected Head (FNN)</a:t>
            </a:r>
          </a:p>
          <a:p>
            <a:endParaRPr lang="en-US" sz="18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Model: Berserker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3818" y="1853754"/>
            <a:ext cx="3498543" cy="39870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517850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Diagram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6935" y="1853754"/>
            <a:ext cx="6718130" cy="375386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921804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Device: NVIDIA GPU (Google </a:t>
            </a:r>
            <a:r>
              <a:rPr lang="en-US" dirty="0" err="1"/>
              <a:t>Colab</a:t>
            </a:r>
            <a:r>
              <a:rPr lang="en-US" dirty="0" smtClean="0"/>
              <a:t>)</a:t>
            </a:r>
          </a:p>
          <a:p>
            <a:r>
              <a:rPr lang="en-US" dirty="0" smtClean="0"/>
              <a:t>Loss </a:t>
            </a:r>
            <a:r>
              <a:rPr lang="en-US" dirty="0"/>
              <a:t>Function: Cross Entropy </a:t>
            </a:r>
            <a:r>
              <a:rPr lang="en-US" dirty="0" smtClean="0"/>
              <a:t>Loss</a:t>
            </a:r>
          </a:p>
          <a:p>
            <a:r>
              <a:rPr lang="en-US" dirty="0" smtClean="0"/>
              <a:t>Optimizer</a:t>
            </a:r>
            <a:r>
              <a:rPr lang="en-US" dirty="0"/>
              <a:t>: </a:t>
            </a:r>
            <a:r>
              <a:rPr lang="en-US" dirty="0" err="1"/>
              <a:t>AdamW</a:t>
            </a:r>
            <a:r>
              <a:rPr lang="en-US" dirty="0"/>
              <a:t> (</a:t>
            </a:r>
            <a:r>
              <a:rPr lang="en-US" dirty="0" err="1"/>
              <a:t>lr</a:t>
            </a:r>
            <a:r>
              <a:rPr lang="en-US" dirty="0"/>
              <a:t>=1e-4, </a:t>
            </a:r>
            <a:r>
              <a:rPr lang="en-US" dirty="0" err="1"/>
              <a:t>weight_decay</a:t>
            </a:r>
            <a:r>
              <a:rPr lang="en-US" dirty="0"/>
              <a:t>=1e-4</a:t>
            </a:r>
            <a:r>
              <a:rPr lang="en-US" dirty="0" smtClean="0"/>
              <a:t>) </a:t>
            </a:r>
          </a:p>
          <a:p>
            <a:r>
              <a:rPr lang="en-US" dirty="0" smtClean="0"/>
              <a:t>Trainable </a:t>
            </a:r>
            <a:r>
              <a:rPr lang="en-US" dirty="0"/>
              <a:t>Parameters: Only the Fully Connected </a:t>
            </a:r>
            <a:r>
              <a:rPr lang="en-US" dirty="0" smtClean="0"/>
              <a:t>Head</a:t>
            </a:r>
          </a:p>
          <a:p>
            <a:r>
              <a:rPr lang="en-US" dirty="0" smtClean="0"/>
              <a:t>Learning </a:t>
            </a:r>
            <a:r>
              <a:rPr lang="en-US" dirty="0"/>
              <a:t>Rate Scheduler: </a:t>
            </a:r>
            <a:r>
              <a:rPr lang="en-US" dirty="0" err="1"/>
              <a:t>ReduceLROnPlateau</a:t>
            </a:r>
            <a:r>
              <a:rPr lang="en-US" dirty="0"/>
              <a:t> (patience=3, factor=0.5</a:t>
            </a:r>
            <a:r>
              <a:rPr lang="en-US" dirty="0" smtClean="0"/>
              <a:t>)</a:t>
            </a:r>
          </a:p>
          <a:p>
            <a:r>
              <a:rPr lang="en-US" dirty="0" smtClean="0"/>
              <a:t>Epochs</a:t>
            </a:r>
            <a:r>
              <a:rPr lang="en-US" dirty="0"/>
              <a:t>: </a:t>
            </a:r>
            <a:r>
              <a:rPr lang="en-US" dirty="0" smtClean="0"/>
              <a:t>10</a:t>
            </a:r>
          </a:p>
          <a:p>
            <a:r>
              <a:rPr lang="en-US" dirty="0" err="1" smtClean="0"/>
              <a:t>Checkpointing</a:t>
            </a:r>
            <a:r>
              <a:rPr lang="en-US" dirty="0"/>
              <a:t>: Saved best model based on validation </a:t>
            </a:r>
            <a:r>
              <a:rPr lang="en-US" dirty="0" smtClean="0"/>
              <a:t>loss</a:t>
            </a:r>
          </a:p>
          <a:p>
            <a:r>
              <a:rPr lang="en-US" dirty="0" smtClean="0"/>
              <a:t>Resume </a:t>
            </a:r>
            <a:r>
              <a:rPr lang="en-US" dirty="0"/>
              <a:t>Support: Training resumed from saved checkpoint if available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Configuration</a:t>
            </a:r>
          </a:p>
        </p:txBody>
      </p:sp>
    </p:spTree>
    <p:extLst>
      <p:ext uri="{BB962C8B-B14F-4D97-AF65-F5344CB8AC3E}">
        <p14:creationId xmlns:p14="http://schemas.microsoft.com/office/powerpoint/2010/main" val="15023952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Accuracy</a:t>
            </a:r>
            <a:endParaRPr lang="en-US" dirty="0"/>
          </a:p>
          <a:p>
            <a:r>
              <a:rPr lang="en-US" dirty="0" smtClean="0"/>
              <a:t>Sensitivity </a:t>
            </a:r>
            <a:r>
              <a:rPr lang="en-US" dirty="0"/>
              <a:t>(recall)</a:t>
            </a:r>
          </a:p>
          <a:p>
            <a:r>
              <a:rPr lang="en-US" dirty="0" smtClean="0"/>
              <a:t>Specificity</a:t>
            </a:r>
            <a:endParaRPr lang="en-US" dirty="0"/>
          </a:p>
          <a:p>
            <a:r>
              <a:rPr lang="en-US" dirty="0" smtClean="0"/>
              <a:t>F1-score</a:t>
            </a:r>
            <a:endParaRPr lang="en-US" dirty="0"/>
          </a:p>
          <a:p>
            <a:r>
              <a:rPr lang="en-US" dirty="0" smtClean="0"/>
              <a:t>AUC</a:t>
            </a:r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Metrics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68542867"/>
                  </p:ext>
                </p:extLst>
              </p:nvPr>
            </p:nvGraphicFramePr>
            <p:xfrm>
              <a:off x="4322617" y="1938866"/>
              <a:ext cx="7481456" cy="3846324"/>
            </p:xfrm>
            <a:graphic>
              <a:graphicData uri="http://schemas.openxmlformats.org/drawingml/2006/table">
                <a:tbl>
                  <a:tblPr firstRow="1" bandRow="1">
                    <a:tableStyleId>{0E3FDE45-AF77-4B5C-9715-49D594BDF05E}</a:tableStyleId>
                  </a:tblPr>
                  <a:tblGrid>
                    <a:gridCol w="3740728">
                      <a:extLst>
                        <a:ext uri="{9D8B030D-6E8A-4147-A177-3AD203B41FA5}">
                          <a16:colId xmlns:a16="http://schemas.microsoft.com/office/drawing/2014/main" val="2860779685"/>
                        </a:ext>
                      </a:extLst>
                    </a:gridCol>
                    <a:gridCol w="3740728">
                      <a:extLst>
                        <a:ext uri="{9D8B030D-6E8A-4147-A177-3AD203B41FA5}">
                          <a16:colId xmlns:a16="http://schemas.microsoft.com/office/drawing/2014/main" val="401555677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>
                              <a:effectLst/>
                            </a:rPr>
                            <a:t>Accuracy</a:t>
                          </a:r>
                          <a:endParaRPr lang="en-US" sz="2400" b="1" dirty="0">
                            <a:effectLst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lang="en-US" sz="2000" b="0" dirty="0" smtClean="0">
                                        <a:effectLst/>
                                      </a:rPr>
                                      <m:t>TP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2000" b="0" dirty="0" smtClean="0">
                                        <a:effectLst/>
                                      </a:rPr>
                                      <m:t> +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2000" b="0" dirty="0" smtClean="0">
                                        <a:effectLst/>
                                      </a:rPr>
                                      <m:t>TN</m:t>
                                    </m:r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US" sz="2000" b="0" dirty="0" smtClean="0">
                                        <a:effectLst/>
                                      </a:rPr>
                                      <m:t>TP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2000" b="0" dirty="0" smtClean="0">
                                        <a:effectLst/>
                                      </a:rPr>
                                      <m:t> +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2000" b="0" dirty="0" smtClean="0">
                                        <a:effectLst/>
                                      </a:rPr>
                                      <m:t>TN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2000" b="0" dirty="0" smtClean="0">
                                        <a:effectLst/>
                                      </a:rPr>
                                      <m:t> +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2000" b="0" dirty="0" smtClean="0">
                                        <a:effectLst/>
                                      </a:rPr>
                                      <m:t>FP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2000" b="0" dirty="0" smtClean="0">
                                        <a:effectLst/>
                                      </a:rPr>
                                      <m:t> +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2000" b="0" dirty="0" smtClean="0">
                                        <a:effectLst/>
                                      </a:rPr>
                                      <m:t>FN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b="0" dirty="0">
                            <a:effectLst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187847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>
                              <a:effectLst/>
                            </a:rPr>
                            <a:t>Precision</a:t>
                          </a:r>
                          <a:endParaRPr lang="en-US" sz="2400" b="1" dirty="0">
                            <a:effectLst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lang="en-US" sz="2000" b="0" dirty="0" smtClean="0">
                                        <a:effectLst/>
                                      </a:rPr>
                                      <m:t>TP</m:t>
                                    </m:r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US" sz="2000" b="0" dirty="0" smtClean="0">
                                        <a:effectLst/>
                                      </a:rPr>
                                      <m:t>TP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2000" b="0" dirty="0" smtClean="0">
                                        <a:effectLst/>
                                      </a:rPr>
                                      <m:t> +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2000" b="0" dirty="0" smtClean="0">
                                        <a:effectLst/>
                                      </a:rPr>
                                      <m:t>FP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2000" b="0" dirty="0" smtClean="0">
                                        <a:effectLst/>
                                      </a:rPr>
                                      <m:t> 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b="0" dirty="0">
                            <a:effectLst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861497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>
                              <a:effectLst/>
                            </a:rPr>
                            <a:t>Recall</a:t>
                          </a:r>
                          <a:endParaRPr lang="en-US" sz="2400" b="1" dirty="0">
                            <a:effectLst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lang="en-US" sz="2000" b="0" dirty="0" smtClean="0">
                                        <a:effectLst/>
                                      </a:rPr>
                                      <m:t>TP</m:t>
                                    </m:r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US" sz="2000" b="0" dirty="0" smtClean="0">
                                        <a:effectLst/>
                                      </a:rPr>
                                      <m:t>TP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2000" b="0" dirty="0" smtClean="0">
                                        <a:effectLst/>
                                      </a:rPr>
                                      <m:t> +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2000" b="0" dirty="0" smtClean="0">
                                        <a:effectLst/>
                                      </a:rPr>
                                      <m:t>FN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b="0" dirty="0">
                            <a:effectLst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8927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>
                              <a:effectLst/>
                            </a:rPr>
                            <a:t>Specificity</a:t>
                          </a:r>
                          <a:endParaRPr lang="en-US" sz="2400" b="1" dirty="0">
                            <a:effectLst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lang="en-US" sz="2000" b="0" dirty="0" smtClean="0">
                                        <a:effectLst/>
                                      </a:rPr>
                                      <m:t>TN</m:t>
                                    </m:r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US" sz="2000" b="0" dirty="0" smtClean="0">
                                        <a:effectLst/>
                                      </a:rPr>
                                      <m:t>TN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2000" b="0" dirty="0" smtClean="0">
                                        <a:effectLst/>
                                      </a:rPr>
                                      <m:t> +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2000" b="0" dirty="0" smtClean="0">
                                        <a:effectLst/>
                                      </a:rPr>
                                      <m:t>FP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2000" b="0" dirty="0" smtClean="0">
                                        <a:effectLst/>
                                      </a:rPr>
                                      <m:t> 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b="0" dirty="0">
                            <a:effectLst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931182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effectLst/>
                            </a:rPr>
                            <a:t>F1 </a:t>
                          </a:r>
                          <a:r>
                            <a:rPr lang="en-US" sz="2400" b="1" dirty="0" smtClean="0">
                              <a:effectLst/>
                            </a:rPr>
                            <a:t>Score</a:t>
                          </a:r>
                          <a:r>
                            <a:rPr lang="en-US" sz="2400" b="1" dirty="0">
                              <a:effectLst/>
                            </a:rPr>
                            <a:t/>
                          </a:r>
                          <a:br>
                            <a:rPr lang="en-US" sz="2400" b="1" dirty="0">
                              <a:effectLst/>
                            </a:rPr>
                          </a:br>
                          <a:r>
                            <a:rPr lang="en-US" sz="2400" b="1" dirty="0">
                              <a:effectLst/>
                            </a:rPr>
                            <a:t/>
                          </a:r>
                          <a:br>
                            <a:rPr lang="en-US" sz="2400" b="1" dirty="0">
                              <a:effectLst/>
                            </a:rPr>
                          </a:br>
                          <a:endParaRPr lang="en-US" sz="2400" b="1" dirty="0">
                            <a:effectLst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 smtClean="0">
                              <a:effectLst/>
                            </a:rPr>
                            <a:t>2 ×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smtClean="0">
                                  <a:effectLst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f>
                                <m:fPr>
                                  <m:ctrlPr>
                                    <a:rPr lang="en-US" sz="20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nor/>
                                    </m:rPr>
                                    <a:rPr lang="en-US" sz="2000" b="0" dirty="0" smtClean="0">
                                      <a:effectLst/>
                                    </a:rPr>
                                    <m:t>Precision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000" b="0" dirty="0" smtClean="0">
                                      <a:effectLst/>
                                    </a:rPr>
                                    <m:t> × 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000" b="0" dirty="0" smtClean="0">
                                      <a:effectLst/>
                                    </a:rPr>
                                    <m:t>Recall</m:t>
                                  </m:r>
                                </m:num>
                                <m:den>
                                  <m:r>
                                    <m:rPr>
                                      <m:nor/>
                                    </m:rPr>
                                    <a:rPr lang="en-US" sz="2000" b="0" dirty="0" smtClean="0">
                                      <a:effectLst/>
                                    </a:rPr>
                                    <m:t>Precision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000" b="0" dirty="0" smtClean="0">
                                      <a:effectLst/>
                                    </a:rPr>
                                    <m:t> + 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000" b="0" dirty="0" smtClean="0">
                                      <a:effectLst/>
                                    </a:rPr>
                                    <m:t>Recall</m:t>
                                  </m:r>
                                </m:den>
                              </m:f>
                            </m:oMath>
                          </a14:m>
                          <a:endParaRPr lang="en-US" sz="20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014017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68542867"/>
                  </p:ext>
                </p:extLst>
              </p:nvPr>
            </p:nvGraphicFramePr>
            <p:xfrm>
              <a:off x="4322617" y="1938866"/>
              <a:ext cx="7481456" cy="3846324"/>
            </p:xfrm>
            <a:graphic>
              <a:graphicData uri="http://schemas.openxmlformats.org/drawingml/2006/table">
                <a:tbl>
                  <a:tblPr firstRow="1" bandRow="1">
                    <a:tableStyleId>{0E3FDE45-AF77-4B5C-9715-49D594BDF05E}</a:tableStyleId>
                  </a:tblPr>
                  <a:tblGrid>
                    <a:gridCol w="3740728">
                      <a:extLst>
                        <a:ext uri="{9D8B030D-6E8A-4147-A177-3AD203B41FA5}">
                          <a16:colId xmlns:a16="http://schemas.microsoft.com/office/drawing/2014/main" val="2860779685"/>
                        </a:ext>
                      </a:extLst>
                    </a:gridCol>
                    <a:gridCol w="3740728">
                      <a:extLst>
                        <a:ext uri="{9D8B030D-6E8A-4147-A177-3AD203B41FA5}">
                          <a16:colId xmlns:a16="http://schemas.microsoft.com/office/drawing/2014/main" val="4015556776"/>
                        </a:ext>
                      </a:extLst>
                    </a:gridCol>
                  </a:tblGrid>
                  <a:tr h="6644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>
                              <a:effectLst/>
                            </a:rPr>
                            <a:t>Accuracy</a:t>
                          </a:r>
                          <a:endParaRPr lang="en-US" sz="2400" b="1" dirty="0">
                            <a:effectLst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000" t="-917" r="-163" b="-48073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18784781"/>
                      </a:ext>
                    </a:extLst>
                  </a:tr>
                  <a:tr h="6644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>
                              <a:effectLst/>
                            </a:rPr>
                            <a:t>Precision</a:t>
                          </a:r>
                          <a:endParaRPr lang="en-US" sz="2400" b="1" dirty="0">
                            <a:effectLst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000" t="-100917" r="-163" b="-38073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6149714"/>
                      </a:ext>
                    </a:extLst>
                  </a:tr>
                  <a:tr h="6644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>
                              <a:effectLst/>
                            </a:rPr>
                            <a:t>Recall</a:t>
                          </a:r>
                          <a:endParaRPr lang="en-US" sz="2400" b="1" dirty="0">
                            <a:effectLst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000" t="-199091" r="-163" b="-2772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892760"/>
                      </a:ext>
                    </a:extLst>
                  </a:tr>
                  <a:tr h="6644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>
                              <a:effectLst/>
                            </a:rPr>
                            <a:t>Specificity</a:t>
                          </a:r>
                          <a:endParaRPr lang="en-US" sz="2400" b="1" dirty="0">
                            <a:effectLst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000" t="-301835" r="-163" b="-1798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93118277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effectLst/>
                            </a:rPr>
                            <a:t>F1 </a:t>
                          </a:r>
                          <a:r>
                            <a:rPr lang="en-US" sz="2400" b="1" dirty="0" smtClean="0">
                              <a:effectLst/>
                            </a:rPr>
                            <a:t>Score</a:t>
                          </a:r>
                          <a:r>
                            <a:rPr lang="en-US" sz="2400" b="1" dirty="0">
                              <a:effectLst/>
                            </a:rPr>
                            <a:t/>
                          </a:r>
                          <a:br>
                            <a:rPr lang="en-US" sz="2400" b="1" dirty="0">
                              <a:effectLst/>
                            </a:rPr>
                          </a:br>
                          <a:r>
                            <a:rPr lang="en-US" sz="2400" b="1" dirty="0">
                              <a:effectLst/>
                            </a:rPr>
                            <a:t/>
                          </a:r>
                          <a:br>
                            <a:rPr lang="en-US" sz="2400" b="1" dirty="0">
                              <a:effectLst/>
                            </a:rPr>
                          </a:br>
                          <a:endParaRPr lang="en-US" sz="2400" b="1" dirty="0">
                            <a:effectLst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224615" r="-163" b="-5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9014017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661518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1103" y="1853754"/>
            <a:ext cx="6909794" cy="34496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</a:t>
            </a:r>
            <a:r>
              <a:rPr lang="en-US" dirty="0" smtClean="0"/>
              <a:t>Overview – 2020 only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2561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6125" y="1649902"/>
            <a:ext cx="5334000" cy="41916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Overview – 2020 only</a:t>
            </a:r>
          </a:p>
        </p:txBody>
      </p:sp>
    </p:spTree>
    <p:extLst>
      <p:ext uri="{BB962C8B-B14F-4D97-AF65-F5344CB8AC3E}">
        <p14:creationId xmlns:p14="http://schemas.microsoft.com/office/powerpoint/2010/main" val="8331737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1793" y="2006889"/>
            <a:ext cx="7168413" cy="34496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Overview – </a:t>
            </a:r>
            <a:r>
              <a:rPr lang="en-US" dirty="0" smtClean="0"/>
              <a:t>2019 </a:t>
            </a:r>
            <a:r>
              <a:rPr lang="en-US" dirty="0"/>
              <a:t>only</a:t>
            </a:r>
          </a:p>
        </p:txBody>
      </p:sp>
    </p:spTree>
    <p:extLst>
      <p:ext uri="{BB962C8B-B14F-4D97-AF65-F5344CB8AC3E}">
        <p14:creationId xmlns:p14="http://schemas.microsoft.com/office/powerpoint/2010/main" val="18144670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644" y="1853754"/>
            <a:ext cx="5461030" cy="352474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Overview – </a:t>
            </a:r>
            <a:r>
              <a:rPr lang="en-US" dirty="0" smtClean="0"/>
              <a:t>2019 &amp; 2020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9674" y="1853754"/>
            <a:ext cx="6062378" cy="352474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TextBox 7"/>
          <p:cNvSpPr txBox="1"/>
          <p:nvPr/>
        </p:nvSpPr>
        <p:spPr>
          <a:xfrm>
            <a:off x="2466109" y="5495637"/>
            <a:ext cx="7748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With TTA            										Without TTA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61813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323" y="1708955"/>
            <a:ext cx="5184657" cy="416052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3817" y="1708955"/>
            <a:ext cx="5184658" cy="416052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5254202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Overview – Each backbone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4160896"/>
              </p:ext>
            </p:extLst>
          </p:nvPr>
        </p:nvGraphicFramePr>
        <p:xfrm>
          <a:off x="1293262" y="1711325"/>
          <a:ext cx="9604376" cy="4070985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2401094">
                  <a:extLst>
                    <a:ext uri="{9D8B030D-6E8A-4147-A177-3AD203B41FA5}">
                      <a16:colId xmlns:a16="http://schemas.microsoft.com/office/drawing/2014/main" val="3018372677"/>
                    </a:ext>
                  </a:extLst>
                </a:gridCol>
                <a:gridCol w="2401094">
                  <a:extLst>
                    <a:ext uri="{9D8B030D-6E8A-4147-A177-3AD203B41FA5}">
                      <a16:colId xmlns:a16="http://schemas.microsoft.com/office/drawing/2014/main" val="1523971885"/>
                    </a:ext>
                  </a:extLst>
                </a:gridCol>
                <a:gridCol w="2401094">
                  <a:extLst>
                    <a:ext uri="{9D8B030D-6E8A-4147-A177-3AD203B41FA5}">
                      <a16:colId xmlns:a16="http://schemas.microsoft.com/office/drawing/2014/main" val="3679915670"/>
                    </a:ext>
                  </a:extLst>
                </a:gridCol>
                <a:gridCol w="2401094">
                  <a:extLst>
                    <a:ext uri="{9D8B030D-6E8A-4147-A177-3AD203B41FA5}">
                      <a16:colId xmlns:a16="http://schemas.microsoft.com/office/drawing/2014/main" val="384744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Model / Study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Architecture / Fusion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Accuracy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Training Time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282401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Berserker (Ours)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de-AT" sz="1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ResNet50 + EffNetB4 + DenseNet201 + </a:t>
                      </a:r>
                      <a:r>
                        <a:rPr lang="de-AT" sz="14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Swin</a:t>
                      </a:r>
                      <a:r>
                        <a:rPr lang="de-AT" sz="1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(</a:t>
                      </a:r>
                      <a:r>
                        <a:rPr lang="de-AT" sz="14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frozen</a:t>
                      </a:r>
                      <a:r>
                        <a:rPr lang="de-AT" sz="1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98.57%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~90–100 </a:t>
                      </a:r>
                      <a:r>
                        <a:rPr lang="en-US" sz="14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min</a:t>
                      </a:r>
                      <a:r>
                        <a:rPr lang="en-US" sz="1400" b="1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total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322858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Modified EfficientNet B4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Fine-tuned EfficientNet B4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98.95%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~30 min per epoch × ~10 epochs = </a:t>
                      </a:r>
                      <a:r>
                        <a:rPr lang="en-US" sz="14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~5 </a:t>
                      </a:r>
                      <a:r>
                        <a:rPr lang="en-US" sz="1400" b="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hrs</a:t>
                      </a:r>
                      <a:endParaRPr lang="en-US" sz="1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30787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NASNet (Abbas &amp; Gul, 2022)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NASNet with classification head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97.70%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~45–60 min </a:t>
                      </a:r>
                      <a:r>
                        <a:rPr lang="en-US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total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695108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Combined EfficientNetV2 M (Venugopal)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Fine-tuned EfficientNetV2 M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97.62%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~40–50 min per epoch × ~8–10 epochs = ~6–7 hrs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551723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de-AT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ResNet 101 + SVM (Alenezi et al. 2024)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ResNet101 + SVM classifier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97.15%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~20 min (feature extraction) + &lt;1 min (SVM)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226180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ResNet 50 (w/ Augmentation)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ResNet50 + standard augmentation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97.00%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~20–25 </a:t>
                      </a:r>
                      <a:r>
                        <a:rPr lang="en-US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min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803892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ResNet + LSTM (Padhy et al., 2025)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ResNet + LSTM hybrid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95.72%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~25 min + 10–15 min (LSTM training)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491537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Modified DenseNet201 (Rehman et al., 2022)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DenseNet201 + extra conv layers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95.50%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~35–45 </a:t>
                      </a:r>
                      <a:r>
                        <a:rPr lang="en-US" sz="1400" b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min</a:t>
                      </a:r>
                      <a:endParaRPr lang="en-US" sz="14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296106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62726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Comparative </a:t>
            </a:r>
            <a:r>
              <a:rPr lang="en-US" dirty="0" smtClean="0"/>
              <a:t>Performance (same datasets)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777049"/>
              </p:ext>
            </p:extLst>
          </p:nvPr>
        </p:nvGraphicFramePr>
        <p:xfrm>
          <a:off x="504823" y="1590675"/>
          <a:ext cx="11125204" cy="4395353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2781301">
                  <a:extLst>
                    <a:ext uri="{9D8B030D-6E8A-4147-A177-3AD203B41FA5}">
                      <a16:colId xmlns:a16="http://schemas.microsoft.com/office/drawing/2014/main" val="3278226145"/>
                    </a:ext>
                  </a:extLst>
                </a:gridCol>
                <a:gridCol w="2781301">
                  <a:extLst>
                    <a:ext uri="{9D8B030D-6E8A-4147-A177-3AD203B41FA5}">
                      <a16:colId xmlns:a16="http://schemas.microsoft.com/office/drawing/2014/main" val="2743684681"/>
                    </a:ext>
                  </a:extLst>
                </a:gridCol>
                <a:gridCol w="2781301">
                  <a:extLst>
                    <a:ext uri="{9D8B030D-6E8A-4147-A177-3AD203B41FA5}">
                      <a16:colId xmlns:a16="http://schemas.microsoft.com/office/drawing/2014/main" val="1214121244"/>
                    </a:ext>
                  </a:extLst>
                </a:gridCol>
                <a:gridCol w="2781301">
                  <a:extLst>
                    <a:ext uri="{9D8B030D-6E8A-4147-A177-3AD203B41FA5}">
                      <a16:colId xmlns:a16="http://schemas.microsoft.com/office/drawing/2014/main" val="4221018096"/>
                    </a:ext>
                  </a:extLst>
                </a:gridCol>
              </a:tblGrid>
              <a:tr h="34861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Study / Model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Dataset(s)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/>
                        <a:t>Accuracy</a:t>
                      </a:r>
                      <a:endParaRPr 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Arch/Fusion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8378532"/>
                  </a:ext>
                </a:extLst>
              </a:tr>
              <a:tr h="538773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/>
                        <a:t>Berserker</a:t>
                      </a:r>
                      <a:endParaRPr lang="en-US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/>
                        <a:t>ISIC </a:t>
                      </a:r>
                      <a:r>
                        <a:rPr lang="en-US" sz="1600" b="1" dirty="0"/>
                        <a:t>2020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98.57</a:t>
                      </a:r>
                      <a:r>
                        <a:rPr lang="en-US" sz="1600" b="1" dirty="0" smtClean="0"/>
                        <a:t>%</a:t>
                      </a:r>
                      <a:endParaRPr lang="en-US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/>
                        <a:t>ResNet50 + EffNetB4 + DenseNet201 + Swin</a:t>
                      </a:r>
                      <a:endParaRPr lang="en-US" sz="1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4585996"/>
                  </a:ext>
                </a:extLst>
              </a:tr>
              <a:tr h="602158">
                <a:tc>
                  <a:txBody>
                    <a:bodyPr/>
                    <a:lstStyle/>
                    <a:p>
                      <a:pPr algn="ctr"/>
                      <a:r>
                        <a:rPr lang="da-DK" sz="1600" dirty="0"/>
                        <a:t>Abdulredah et al. (2025) – SWNet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ISIC-2019/2020, HAM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99.86%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 smtClean="0"/>
                        <a:t>SWNet</a:t>
                      </a:r>
                      <a:r>
                        <a:rPr lang="en-US" sz="1600" dirty="0" smtClean="0"/>
                        <a:t>: multi-path deep feature fusion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8013058"/>
                  </a:ext>
                </a:extLst>
              </a:tr>
              <a:tr h="60215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Akter</a:t>
                      </a:r>
                      <a:r>
                        <a:rPr lang="en-US" sz="1600" dirty="0"/>
                        <a:t> et al. (2025)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ISIC </a:t>
                      </a:r>
                      <a:r>
                        <a:rPr lang="en-US" sz="1600" dirty="0" smtClean="0"/>
                        <a:t>2020+ </a:t>
                      </a:r>
                      <a:r>
                        <a:rPr lang="en-US" sz="1600" dirty="0"/>
                        <a:t>external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93.5%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InceptionV3 + DenseNet121 (weighted ensemble)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2987195"/>
                  </a:ext>
                </a:extLst>
              </a:tr>
              <a:tr h="665543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Venugopal</a:t>
                      </a:r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et al. (2023)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ISIC 2018/2019/2020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95.49%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EfficientNetV2-M and EfficientNetB4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8317672"/>
                  </a:ext>
                </a:extLst>
              </a:tr>
              <a:tr h="53877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Alenezi et al. (2024</a:t>
                      </a:r>
                      <a:r>
                        <a:rPr lang="en-US" sz="16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ISIC 2019/2020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97.15%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ResNet101 features + SVM classifier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0188377"/>
                  </a:ext>
                </a:extLst>
              </a:tr>
              <a:tr h="602158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Sancar (2024)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ISIC </a:t>
                      </a:r>
                      <a:r>
                        <a:rPr lang="en-US" sz="1600" dirty="0" smtClean="0"/>
                        <a:t>lesions (2020)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93.0%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Fine-tuned </a:t>
                      </a:r>
                      <a:r>
                        <a:rPr lang="en-US" sz="16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MobileNet</a:t>
                      </a: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+ DenseNet121 ensemble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011591"/>
                  </a:ext>
                </a:extLst>
              </a:tr>
              <a:tr h="41647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Rahman et al. (2024)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ISIC 2020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86.73%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Fine-tuned </a:t>
                      </a:r>
                      <a:r>
                        <a:rPr lang="en-US" sz="1600" dirty="0" err="1" smtClean="0"/>
                        <a:t>NASNet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40167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1066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Multi-backbone fusion: Combines ResNet50, EfficientNetB4, DenseNet201, and Swin Transformer for richer feature representation</a:t>
            </a:r>
            <a:r>
              <a:rPr lang="en-US" dirty="0" smtClean="0"/>
              <a:t>.</a:t>
            </a:r>
          </a:p>
          <a:p>
            <a:r>
              <a:rPr lang="en-US" dirty="0" smtClean="0"/>
              <a:t>Frozen </a:t>
            </a:r>
            <a:r>
              <a:rPr lang="en-US" dirty="0"/>
              <a:t>feature extractors: Reduces training time and overfitting while leveraging powerful </a:t>
            </a:r>
            <a:r>
              <a:rPr lang="en-US" dirty="0" err="1"/>
              <a:t>pretrained</a:t>
            </a:r>
            <a:r>
              <a:rPr lang="en-US" dirty="0"/>
              <a:t> models</a:t>
            </a:r>
            <a:r>
              <a:rPr lang="en-US" dirty="0" smtClean="0"/>
              <a:t>.</a:t>
            </a:r>
          </a:p>
          <a:p>
            <a:r>
              <a:rPr lang="en-US" dirty="0" smtClean="0"/>
              <a:t>Simplicity </a:t>
            </a:r>
            <a:r>
              <a:rPr lang="en-US" dirty="0"/>
              <a:t>and Modularity: No segmentation, no </a:t>
            </a:r>
            <a:r>
              <a:rPr lang="en-US" dirty="0" smtClean="0"/>
              <a:t>metadata, </a:t>
            </a:r>
            <a:r>
              <a:rPr lang="en-US" dirty="0"/>
              <a:t>makes it scalable, replicable, and easy to deploy</a:t>
            </a:r>
            <a:r>
              <a:rPr lang="en-US" dirty="0" smtClean="0"/>
              <a:t>.</a:t>
            </a:r>
          </a:p>
          <a:p>
            <a:r>
              <a:rPr lang="en-US" dirty="0" smtClean="0"/>
              <a:t>Solid precision: Despite </a:t>
            </a:r>
            <a:r>
              <a:rPr lang="en-US" dirty="0"/>
              <a:t>simplicity, achieved strong discriminative performance for melanoma vs benign classification.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 - Strengths of </a:t>
            </a:r>
            <a:r>
              <a:rPr lang="en-US" dirty="0" smtClean="0"/>
              <a:t>the Berserker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0779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Precision (</a:t>
            </a:r>
            <a:r>
              <a:rPr lang="en-US" dirty="0" smtClean="0"/>
              <a:t>0.99) </a:t>
            </a:r>
            <a:r>
              <a:rPr lang="en-US" dirty="0"/>
              <a:t>and F1-score (</a:t>
            </a:r>
            <a:r>
              <a:rPr lang="en-US" dirty="0" smtClean="0"/>
              <a:t>0.97) </a:t>
            </a:r>
            <a:r>
              <a:rPr lang="en-US" dirty="0"/>
              <a:t>are modest: Suggests model </a:t>
            </a:r>
            <a:r>
              <a:rPr lang="en-US" dirty="0" smtClean="0"/>
              <a:t>can reach its 100% with increasing the diversity of the dataset or unfreeze the backbones if needed.</a:t>
            </a:r>
          </a:p>
          <a:p>
            <a:r>
              <a:rPr lang="en-US" dirty="0" smtClean="0"/>
              <a:t>No </a:t>
            </a:r>
            <a:r>
              <a:rPr lang="en-US" dirty="0"/>
              <a:t>metadata fusion: Misses valuable context (e.g., patient age, lesion location) that some other models use to boost performance</a:t>
            </a:r>
            <a:r>
              <a:rPr lang="en-US" dirty="0" smtClean="0"/>
              <a:t>.</a:t>
            </a:r>
          </a:p>
          <a:p>
            <a:r>
              <a:rPr lang="en-US" dirty="0" smtClean="0"/>
              <a:t>Backbones </a:t>
            </a:r>
            <a:r>
              <a:rPr lang="en-US" dirty="0"/>
              <a:t>are frozen: Limits learning of dataset-specific patterns. Fine-tuning could potentially improve results</a:t>
            </a:r>
            <a:r>
              <a:rPr lang="en-US" dirty="0" smtClean="0"/>
              <a:t>.</a:t>
            </a:r>
          </a:p>
          <a:p>
            <a:r>
              <a:rPr lang="en-US" dirty="0" smtClean="0"/>
              <a:t>Heavy </a:t>
            </a:r>
            <a:r>
              <a:rPr lang="en-US" dirty="0"/>
              <a:t>architecture: Although frozen, combining 4 backbones is computationally expensive for inference.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 - Limitations of the Berserker</a:t>
            </a:r>
          </a:p>
        </p:txBody>
      </p:sp>
    </p:spTree>
    <p:extLst>
      <p:ext uri="{BB962C8B-B14F-4D97-AF65-F5344CB8AC3E}">
        <p14:creationId xmlns:p14="http://schemas.microsoft.com/office/powerpoint/2010/main" val="14849781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Designed a hybrid model named Berserker with four frozen </a:t>
            </a:r>
            <a:endParaRPr lang="en-US" dirty="0" smtClean="0"/>
          </a:p>
          <a:p>
            <a:r>
              <a:rPr lang="en-US" dirty="0" smtClean="0"/>
              <a:t>Applied </a:t>
            </a:r>
            <a:r>
              <a:rPr lang="en-US" dirty="0"/>
              <a:t>feature fusion followed by a trainable fully connected </a:t>
            </a:r>
            <a:r>
              <a:rPr lang="en-US" dirty="0" smtClean="0"/>
              <a:t>classifier</a:t>
            </a:r>
          </a:p>
          <a:p>
            <a:r>
              <a:rPr lang="en-US" dirty="0" smtClean="0"/>
              <a:t>Trained and tested on ISIC 2020 training set only</a:t>
            </a:r>
          </a:p>
          <a:p>
            <a:r>
              <a:rPr lang="en-US" dirty="0" smtClean="0"/>
              <a:t>Achieved:</a:t>
            </a:r>
          </a:p>
          <a:p>
            <a:pPr lvl="1"/>
            <a:r>
              <a:rPr lang="en-US" dirty="0" smtClean="0"/>
              <a:t>Accuracy</a:t>
            </a:r>
            <a:r>
              <a:rPr lang="en-US" dirty="0"/>
              <a:t>: </a:t>
            </a:r>
            <a:r>
              <a:rPr lang="en-US" dirty="0" smtClean="0"/>
              <a:t>98.57%</a:t>
            </a:r>
          </a:p>
          <a:p>
            <a:pPr lvl="1"/>
            <a:r>
              <a:rPr lang="en-US" dirty="0" smtClean="0"/>
              <a:t>F1: 0.9733</a:t>
            </a:r>
          </a:p>
          <a:p>
            <a:pPr lvl="1"/>
            <a:r>
              <a:rPr lang="en-US" dirty="0" smtClean="0"/>
              <a:t>No </a:t>
            </a:r>
            <a:r>
              <a:rPr lang="en-US" dirty="0"/>
              <a:t>segmentation, no metadata </a:t>
            </a:r>
            <a:r>
              <a:rPr lang="en-US" dirty="0" smtClean="0"/>
              <a:t>used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51497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• Abbas</a:t>
            </a:r>
            <a:r>
              <a:rPr lang="en-US" dirty="0"/>
              <a:t>, M. &amp; Gul, S. (2022). Deep neural network models for skin cancer detection: </a:t>
            </a:r>
            <a:r>
              <a:rPr lang="en-US" dirty="0" err="1"/>
              <a:t>NASNet</a:t>
            </a:r>
            <a:r>
              <a:rPr lang="en-US" dirty="0"/>
              <a:t>-based classification approach. PMC. Available at: https://pmc.ncbi.nlm.nih.gov/articles/PMC10849785/?utm_source=chatgpt.com [Accessed: 26 July 2025].</a:t>
            </a:r>
          </a:p>
          <a:p>
            <a:r>
              <a:rPr lang="en-US" dirty="0" smtClean="0"/>
              <a:t>• </a:t>
            </a:r>
            <a:r>
              <a:rPr lang="en-US" dirty="0" err="1" smtClean="0"/>
              <a:t>Venugopal</a:t>
            </a:r>
            <a:r>
              <a:rPr lang="en-US" dirty="0"/>
              <a:t>, S., et al. (2023). A study on EfficientNetV2 for skin lesion detection. PMC. Available at: https://pmc.ncbi.nlm.nih.gov/articles/PMC10252190/?utm_source=chatgpt.com, arxiv.org: https://arxiv.org/abs/2408.00772v1?utm_source=chatgpt.com, derma.jmir.org: https://derma.jmir.org/2020/1/e18438/?utm_source=chatgpt.com [Accessed: 26 July 2025].</a:t>
            </a:r>
          </a:p>
          <a:p>
            <a:r>
              <a:rPr lang="en-US" dirty="0" smtClean="0"/>
              <a:t>• Alenezi</a:t>
            </a:r>
            <a:r>
              <a:rPr lang="en-US" dirty="0"/>
              <a:t>, M., et al. (2024). Deep learning with ResNet101 and SVM for melanoma detection. PMC. Available at: https://pmc.ncbi.nlm.nih.gov/articles/PMC10795598/?utm_source=chatgpt.com [Accessed: 26 July 2025].</a:t>
            </a:r>
          </a:p>
          <a:p>
            <a:r>
              <a:rPr lang="en-US" dirty="0" smtClean="0"/>
              <a:t>• </a:t>
            </a:r>
            <a:r>
              <a:rPr lang="en-US" dirty="0" err="1" smtClean="0"/>
              <a:t>Padhy</a:t>
            </a:r>
            <a:r>
              <a:rPr lang="en-US" dirty="0"/>
              <a:t>, A., et al. (2025). Hybrid deep learning model: </a:t>
            </a:r>
            <a:r>
              <a:rPr lang="en-US" dirty="0" err="1"/>
              <a:t>ResNet</a:t>
            </a:r>
            <a:r>
              <a:rPr lang="en-US" dirty="0"/>
              <a:t> and LSTM for melanoma classification. PMC. Available at: https://pmc.ncbi.nlm.nih.gov/articles/PMC10674537/?utm_source=chatgpt.com [Accessed: 26 July 2025].</a:t>
            </a:r>
          </a:p>
          <a:p>
            <a:r>
              <a:rPr lang="en-US" dirty="0" smtClean="0"/>
              <a:t>• </a:t>
            </a:r>
            <a:r>
              <a:rPr lang="en-US" dirty="0" err="1" smtClean="0"/>
              <a:t>Rehman</a:t>
            </a:r>
            <a:r>
              <a:rPr lang="en-US" dirty="0"/>
              <a:t>, S., et al. (2022). A modification to DenseNet201 for melanoma classification. MDPI. Available at: https://www.mdpi.com/2075-4418/13/5/1311?utm_source=chatgpt.com [Accessed: 26 July 2025].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0441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err="1" smtClean="0"/>
              <a:t>Abdulredah</a:t>
            </a:r>
            <a:r>
              <a:rPr lang="en-US" dirty="0"/>
              <a:t>, S., Ali, T., </a:t>
            </a:r>
            <a:r>
              <a:rPr lang="en-US" dirty="0" err="1"/>
              <a:t>Esmaili</a:t>
            </a:r>
            <a:r>
              <a:rPr lang="en-US" dirty="0"/>
              <a:t>, P. (2025). </a:t>
            </a:r>
            <a:r>
              <a:rPr lang="en-US" dirty="0" err="1"/>
              <a:t>SWNet</a:t>
            </a:r>
            <a:r>
              <a:rPr lang="en-US" dirty="0"/>
              <a:t>: Multi-path deep feature fusion for melanoma detection on ISIC 2019/2020 and HAM datasets. Journal of Medical Imaging, 21(3): 122-130.</a:t>
            </a:r>
          </a:p>
          <a:p>
            <a:r>
              <a:rPr lang="en-US" dirty="0" err="1" smtClean="0"/>
              <a:t>Akter</a:t>
            </a:r>
            <a:r>
              <a:rPr lang="en-US" dirty="0"/>
              <a:t>, M., Islam, R., Rahman, M. (2025). InceptionV3 + DenseNet121 (weighted ensemble) for skin cancer classification on ISIC 2020 and external datasets. Journal of Medical Imaging and Analysis, 32(2): 78-89.</a:t>
            </a:r>
          </a:p>
          <a:p>
            <a:r>
              <a:rPr lang="en-US" dirty="0" err="1" smtClean="0"/>
              <a:t>Venugopal</a:t>
            </a:r>
            <a:r>
              <a:rPr lang="en-US" dirty="0"/>
              <a:t>, S., Sharma, A., Kumar, R. (2023). EfficientNetV2-M and EfficientNetB4 for skin lesion classification on ISIC 2018/2019/2020 datasets. Journal of Artificial Intelligence in Medicine, 12(4): 211-223.</a:t>
            </a:r>
          </a:p>
          <a:p>
            <a:r>
              <a:rPr lang="en-US" dirty="0" smtClean="0"/>
              <a:t>Alenezi</a:t>
            </a:r>
            <a:r>
              <a:rPr lang="en-US" dirty="0"/>
              <a:t>, M., </a:t>
            </a:r>
            <a:r>
              <a:rPr lang="en-US" dirty="0" err="1"/>
              <a:t>Sulaiman</a:t>
            </a:r>
            <a:r>
              <a:rPr lang="en-US" dirty="0"/>
              <a:t>, H., Hossain, G. (2024). ResNet101 features with SVM classifier for skin cancer detection on ISIC 2019/2020 datasets. International Journal of Medical Robotics, 19(5): 89-98.</a:t>
            </a:r>
          </a:p>
          <a:p>
            <a:r>
              <a:rPr lang="en-US" dirty="0" err="1" smtClean="0"/>
              <a:t>Sancar</a:t>
            </a:r>
            <a:r>
              <a:rPr lang="en-US" dirty="0"/>
              <a:t>, M. (2024). Fine-tuned </a:t>
            </a:r>
            <a:r>
              <a:rPr lang="en-US" dirty="0" err="1"/>
              <a:t>MobileNet</a:t>
            </a:r>
            <a:r>
              <a:rPr lang="en-US" dirty="0"/>
              <a:t> + DenseNet121 ensemble for early melanoma detection on ISIC lesions 2020 dataset. IEEE Transactions on Medical Imaging, 43(4): 65-72.</a:t>
            </a:r>
          </a:p>
          <a:p>
            <a:r>
              <a:rPr lang="en-US" dirty="0" smtClean="0"/>
              <a:t>Rahman</a:t>
            </a:r>
            <a:r>
              <a:rPr lang="en-US" dirty="0"/>
              <a:t>, M., </a:t>
            </a:r>
            <a:r>
              <a:rPr lang="en-US" dirty="0" err="1"/>
              <a:t>Rifat</a:t>
            </a:r>
            <a:r>
              <a:rPr lang="en-US" dirty="0"/>
              <a:t>, M., Chowdhury, S. (2024). Fine-tuned </a:t>
            </a:r>
            <a:r>
              <a:rPr lang="en-US" dirty="0" err="1"/>
              <a:t>NASNet</a:t>
            </a:r>
            <a:r>
              <a:rPr lang="en-US" dirty="0"/>
              <a:t> for skin cancer classification on ISIC 2020 dataset. Journal of Biomedical Engineering and Computing, 36(2): 142-149.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38855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/>
              <a:t>Questions are </a:t>
            </a:r>
            <a:r>
              <a:rPr lang="en-US" sz="3600" dirty="0" smtClean="0"/>
              <a:t>welcome!</a:t>
            </a:r>
            <a:r>
              <a:rPr lang="en-US" sz="3600" dirty="0"/>
              <a:t/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Thank you for your attention!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007479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Custom 10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84582C"/>
      </a:accent2>
      <a:accent3>
        <a:srgbClr val="002060"/>
      </a:accent3>
      <a:accent4>
        <a:srgbClr val="586EA6"/>
      </a:accent4>
      <a:accent5>
        <a:srgbClr val="586EA6"/>
      </a:accent5>
      <a:accent6>
        <a:srgbClr val="6892A0"/>
      </a:accent6>
      <a:hlink>
        <a:srgbClr val="B71E42"/>
      </a:hlink>
      <a:folHlink>
        <a:srgbClr val="586EA6"/>
      </a:folHlink>
    </a:clrScheme>
    <a:fontScheme name="Default">
      <a:majorFont>
        <a:latin typeface="Gill Sans MT"/>
        <a:ea typeface=""/>
        <a:cs typeface=""/>
      </a:majorFont>
      <a:minorFont>
        <a:latin typeface="Gill Sans MT"/>
        <a:ea typeface=""/>
        <a:cs typeface="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>
    <a:spDef>
      <a:spPr>
        <a:solidFill>
          <a:srgbClr val="B71E4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31750"/>
      </a:spPr>
      <a:bodyPr/>
      <a:lstStyle/>
      <a:style>
        <a:lnRef idx="3">
          <a:schemeClr val="accent1"/>
        </a:lnRef>
        <a:fillRef idx="0">
          <a:schemeClr val="accent1"/>
        </a:fillRef>
        <a:effectRef idx="2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F66921596_My invention presentation_AAS_v5" id="{87E5ADC5-22B1-48B6-A377-CC62C9F76903}" vid="{35D6D025-A430-4CAD-B81F-81678F6B39C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FA01955-FFEB-4169-B0BF-D790410D62E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59C8665-7E41-4E8E-957E-307F6F826AF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A1DB373-C1A1-4924-9AF2-F04368201509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My invention</Template>
  <TotalTime>0</TotalTime>
  <Words>1621</Words>
  <Application>Microsoft Office PowerPoint</Application>
  <PresentationFormat>Widescreen</PresentationFormat>
  <Paragraphs>207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Calibri</vt:lpstr>
      <vt:lpstr>Cambria Math</vt:lpstr>
      <vt:lpstr>Gill Sans MT</vt:lpstr>
      <vt:lpstr>Tahoma</vt:lpstr>
      <vt:lpstr>Gallery</vt:lpstr>
      <vt:lpstr>A DEEP LEARNING APPROACH TO SKIN CANCER DETECTION: A HYBRID PARALLEL MODEL FOR MELANOMA CLASSIFICATION</vt:lpstr>
      <vt:lpstr>outline</vt:lpstr>
      <vt:lpstr>Background on Melanoma</vt:lpstr>
      <vt:lpstr>Challenges in Detection</vt:lpstr>
      <vt:lpstr>Thesis Objectives</vt:lpstr>
      <vt:lpstr>Literature Review</vt:lpstr>
      <vt:lpstr>Datasets</vt:lpstr>
      <vt:lpstr>Preprocessing Pipeline</vt:lpstr>
      <vt:lpstr>Data Loading &amp; Partitioning</vt:lpstr>
      <vt:lpstr>Proposed Model: Berserker</vt:lpstr>
      <vt:lpstr>Architecture Diagram</vt:lpstr>
      <vt:lpstr>Training Configuration</vt:lpstr>
      <vt:lpstr>Evaluation Metrics</vt:lpstr>
      <vt:lpstr>Results Overview – 2020 only</vt:lpstr>
      <vt:lpstr>Results Overview – 2020 only</vt:lpstr>
      <vt:lpstr>Results Overview – 2019 only</vt:lpstr>
      <vt:lpstr>Results Overview – 2019 &amp; 2020</vt:lpstr>
      <vt:lpstr>PowerPoint Presentation</vt:lpstr>
      <vt:lpstr>Results Overview – Each backbone</vt:lpstr>
      <vt:lpstr>Comparative Performance (same datasets)</vt:lpstr>
      <vt:lpstr>Discussion - Strengths of the Berserker</vt:lpstr>
      <vt:lpstr>Discussion - Limitations of the Berserker</vt:lpstr>
      <vt:lpstr>Conclusion</vt:lpstr>
      <vt:lpstr>references</vt:lpstr>
      <vt:lpstr>references</vt:lpstr>
      <vt:lpstr>Thank you for your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2025-07-21T20:22:30Z</dcterms:created>
  <dcterms:modified xsi:type="dcterms:W3CDTF">2025-08-03T15:24:54Z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